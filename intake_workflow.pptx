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1463040"/>
            <a:ext cx="292608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4630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PROCESS 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92024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Workflow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from intake entry through clinical determination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0" y="3931920"/>
            <a:ext cx="109728" cy="109728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52360" y="3931920"/>
            <a:ext cx="109728" cy="109728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3931920"/>
            <a:ext cx="109728" cy="109728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92440" y="3931920"/>
            <a:ext cx="109728" cy="109728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4251960"/>
            <a:ext cx="109728" cy="109728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52360" y="4251960"/>
            <a:ext cx="109728" cy="109728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4251960"/>
            <a:ext cx="109728" cy="109728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4251960"/>
            <a:ext cx="109728" cy="109728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4572000"/>
            <a:ext cx="109728" cy="109728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52360" y="4572000"/>
            <a:ext cx="109728" cy="109728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4572000"/>
            <a:ext cx="109728" cy="109728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4572000"/>
            <a:ext cx="109728" cy="109728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4892040"/>
            <a:ext cx="109728" cy="109728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2360" y="4892040"/>
            <a:ext cx="109728" cy="109728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4892040"/>
            <a:ext cx="109728" cy="109728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2440" y="4892040"/>
            <a:ext cx="109728" cy="109728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INTAKE ENTRY POINTS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prior authorization requests enter through one of five channels, each routed automatically to the correct TPA client.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5361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71600"/>
            <a:ext cx="1536192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72768"/>
            <a:ext cx="1536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eFax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" y="219456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Phaxio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42416" y="3291840"/>
            <a:ext cx="0" cy="36576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3392" y="1371600"/>
            <a:ext cx="15361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1371600"/>
            <a:ext cx="153619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1572768"/>
            <a:ext cx="1536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93392" y="219456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alias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61488" y="3291840"/>
            <a:ext cx="0" cy="36576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12464" y="1371600"/>
            <a:ext cx="15361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12464" y="1371600"/>
            <a:ext cx="1536192" cy="2011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2464" y="1572768"/>
            <a:ext cx="1536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12464" y="219456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TPA / Provider self-serve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3291840"/>
            <a:ext cx="0" cy="36576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31536" y="1371600"/>
            <a:ext cx="15361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31536" y="1371600"/>
            <a:ext cx="153619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31536" y="1572768"/>
            <a:ext cx="1536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31536" y="219456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manual entry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99632" y="3291840"/>
            <a:ext cx="0" cy="36576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50608" y="1371600"/>
            <a:ext cx="15361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50608" y="1371600"/>
            <a:ext cx="1536192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0608" y="1572768"/>
            <a:ext cx="15361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50608" y="219456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modification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18704" y="3291840"/>
            <a:ext cx="0" cy="36576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7280" y="3749040"/>
            <a:ext cx="694944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97280" y="374904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INTAKE ROUTING LAYER  —  to_number → client_id  /  email alias → client_id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QUESTIONNAIRE &amp; TRIAGE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02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393192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  —  AI Processing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extracts text from fax or uploaded document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parses all clinical fields automatically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field scored with a confidence value (0.0–1.0)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High-confidence submissions auto-proceed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82296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822960"/>
            <a:ext cx="39319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822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MANUAL  —  CSR Entry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137160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fills the same structured form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phone-in requests and portal submissions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handles low-confidence AI extractions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and corrects fields before proceeding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</a:rPr>
              <a:t>Fields: Patient  ·  Member ID  ·  DOB  ·  ICD-10 Codes  ·  CPT/HCPCS Codes  ·  Provider NPI  ·  Urgency  ·  Payer / Plan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CONFIDENCE CHECK &amp; ROUTING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03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0" y="914400"/>
            <a:ext cx="329184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0" y="9144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Confidence Score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≥ 0.85 &amp; no missing fields?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731520" cy="0"/>
          </a:xfrm>
          <a:prstGeom prst="line">
            <a:avLst/>
          </a:prstGeom>
          <a:noFill/>
          <a:ln w="3175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143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YES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49440" y="1005840"/>
            <a:ext cx="192024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0" y="10058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Auto-proceed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 Member Matching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94560" y="1417320"/>
            <a:ext cx="731520" cy="0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1143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NO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005840"/>
            <a:ext cx="1920240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10058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CSR Manual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Review Queue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057400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214884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missing fields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low-confidence values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&amp; approve data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234440" y="3794760"/>
            <a:ext cx="0" cy="32004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114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97706"/>
                </a:solidFill>
              </a:rPr>
              <a:t>Once confirmed →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2057400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86600" y="214884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review needed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directly to member lookup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SLA timeline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4206240"/>
            <a:ext cx="27432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0" y="4206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Member Matching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MEMBER MATCHING &amp; DEDUP CHECK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04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393192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MEMBER MATCHING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Identity fingerprint lookup: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DOB + Member ID + Payer + Plan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1554480" cy="1463040"/>
          </a:xfrm>
          <a:prstGeom prst="rect">
            <a:avLst/>
          </a:prstGeom>
          <a:solidFill>
            <a:srgbClr val="CCFBF1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</a:rPr>
              <a:t>FOUND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1554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Link to existing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longitudinal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member record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40280" y="2194560"/>
            <a:ext cx="1554480" cy="14630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028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NEW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40280" y="2514600"/>
            <a:ext cx="1554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Create new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member row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the database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82296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822960"/>
            <a:ext cx="3931920" cy="4114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822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DEDUP CHECK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Submission fingerprint: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ID + Procedure codes + NPI + Payer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window per TPA client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20640" y="2377440"/>
            <a:ext cx="1554480" cy="12801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DUPLICATE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269748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Flag record,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surface existing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case to CSR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0" y="2377440"/>
            <a:ext cx="1554480" cy="1280160"/>
          </a:xfrm>
          <a:prstGeom prst="rect">
            <a:avLst/>
          </a:prstGeom>
          <a:solidFill>
            <a:srgbClr val="CCFBF1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CLEAN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269748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Proceed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case creation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0" y="4206240"/>
            <a:ext cx="27432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00400" y="4206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Case Creation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CASE CREATION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 record is created with all intake fields. The review chain is seeded and a receipt confirmation is sent to the provider.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71600"/>
            <a:ext cx="393192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71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CASE RECORD FIELDS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client_id  (TPA)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codes (CPT/HCPCS)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codes (ICD-10)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Requesting provider NPI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 (routine / urgent / emergent)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deadline  (auto-calculated from urgency)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137160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371600"/>
            <a:ext cx="3931920" cy="4114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71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AUTOMATED ACTIONS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74920" y="1965960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1920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chain seeded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22128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initial_review → pending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74920" y="2788920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clock starts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40680" y="30358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stamped on case record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0" y="3611880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3566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confirmation sent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40680" y="38587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 back or email to requesting provider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SLA:  Routine → 3–5 business days     Urgent → 24–72 hours     Emergent → Immediate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CLINICAL REVIEW QUEUE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06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182880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Brief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3E"/>
                </a:solidFill>
              </a:rPr>
              <a:t>Auto-generated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3E"/>
                </a:solidFill>
              </a:rPr>
              <a:t>clinical summary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94560" y="1508760"/>
            <a:ext cx="2743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77724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777240"/>
            <a:ext cx="1828800" cy="3200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LPN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1097280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3E"/>
                </a:solidFill>
              </a:rPr>
              <a:t>Initial screen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3E"/>
                </a:solidFill>
              </a:rPr>
              <a:t>&amp; triage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1508760"/>
            <a:ext cx="2743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77724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777240"/>
            <a:ext cx="182880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1097280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3E"/>
                </a:solidFill>
              </a:rPr>
              <a:t>Escalation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3E"/>
                </a:solidFill>
              </a:rPr>
              <a:t>if required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1508760"/>
            <a:ext cx="2743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77724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777240"/>
            <a:ext cx="18288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1097280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3E"/>
                </a:solidFill>
              </a:rPr>
              <a:t>Final review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3E"/>
                </a:solidFill>
              </a:rPr>
              <a:t>if required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DETERMINATIONS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2880360"/>
            <a:ext cx="15361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880360"/>
            <a:ext cx="1536192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88036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Approve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" y="3200400"/>
            <a:ext cx="15361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Deliver approval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letter to provider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993392" y="2880360"/>
            <a:ext cx="15361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993392" y="2880360"/>
            <a:ext cx="1536192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93392" y="288036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Deny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993392" y="3200400"/>
            <a:ext cx="15361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Seed appeal chain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Step 2 → P2P → IRO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712464" y="2880360"/>
            <a:ext cx="15361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12464" y="2880360"/>
            <a:ext cx="1536192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12464" y="288036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Partial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12464" y="3200400"/>
            <a:ext cx="15361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Partial approval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letter delivered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31536" y="2880360"/>
            <a:ext cx="15361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31536" y="2880360"/>
            <a:ext cx="1536192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31536" y="288036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Pend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31536" y="3200400"/>
            <a:ext cx="15361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Pause SLA clock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Await documentation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150608" y="2880360"/>
            <a:ext cx="153619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150608" y="2880360"/>
            <a:ext cx="1536192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50608" y="288036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P2P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150608" y="3200400"/>
            <a:ext cx="15361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Peer-to-peer review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scheduled with MD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DENIAL &amp; APPEAL CHAIN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case is denied, it enters a structured appeal chain with defined escalation steps.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508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71600"/>
            <a:ext cx="15087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71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DENY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783080"/>
            <a:ext cx="1508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3E"/>
                </a:solidFill>
              </a:rPr>
              <a:t>Initial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D1B3E"/>
                </a:solidFill>
              </a:rPr>
              <a:t>Determination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783080" y="2377440"/>
            <a:ext cx="210312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3392" y="1371600"/>
            <a:ext cx="1508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1371600"/>
            <a:ext cx="150876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1371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1st Appeal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93392" y="1783080"/>
            <a:ext cx="1508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3E"/>
                </a:solidFill>
              </a:rPr>
              <a:t>Review chain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D1B3E"/>
                </a:solidFill>
              </a:rPr>
              <a:t>step 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02152" y="2377440"/>
            <a:ext cx="210312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12464" y="1371600"/>
            <a:ext cx="1508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12464" y="1371600"/>
            <a:ext cx="15087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2464" y="1371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P2P Review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12464" y="1783080"/>
            <a:ext cx="1508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3E"/>
                </a:solidFill>
              </a:rPr>
              <a:t>Peer-to-peer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D1B3E"/>
                </a:solidFill>
              </a:rPr>
              <a:t>with MD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21224" y="2377440"/>
            <a:ext cx="210312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31536" y="1371600"/>
            <a:ext cx="1508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31536" y="1371600"/>
            <a:ext cx="1508760" cy="4114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31536" y="1371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2nd Appeal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31536" y="1783080"/>
            <a:ext cx="1508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3E"/>
                </a:solidFill>
              </a:rPr>
              <a:t>Final internal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D1B3E"/>
                </a:solidFill>
              </a:rPr>
              <a:t>appeal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940296" y="2377440"/>
            <a:ext cx="210312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50608" y="1371600"/>
            <a:ext cx="1508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50608" y="1371600"/>
            <a:ext cx="150876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0608" y="1371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IRO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50608" y="1783080"/>
            <a:ext cx="1508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3E"/>
                </a:solidFill>
              </a:rPr>
              <a:t>Independent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D1B3E"/>
                </a:solidFill>
              </a:rPr>
              <a:t>Review Org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4320" y="3657600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657600"/>
            <a:ext cx="228600" cy="1234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6576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PEND TRACK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" y="40233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clock is paused when a case is pended. Clock resumes once the requested documentation is received. If docs are not received within the pend window, the case escalates back to the reviewer.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INBOUND CALL FLOW  —  Doctor's Office Calling 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08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777240"/>
            <a:ext cx="8092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81381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Greeting &amp; ID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10642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"Thank you for calling [TPA]. Can I get your practice name and the patient you're calling about?"  Inbound number logged, client_id stamped automatically.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" y="1252728"/>
            <a:ext cx="0" cy="36576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709928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1618488"/>
            <a:ext cx="8092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16550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Collect clinical fields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194767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name · DOB · Member ID · CPT code · ICD-10 · NPI · Urgency (routine / urgent / emergent) · Payer &amp; plan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" y="2093976"/>
            <a:ext cx="0" cy="36576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551176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2459736"/>
            <a:ext cx="8092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24963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Missing info?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7889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fields are missing, CSR puts caller on hold, flags submission as incomplete. SLA clock does not start until case is complete.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" y="2935224"/>
            <a:ext cx="0" cy="36576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392424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" y="3300984"/>
            <a:ext cx="8092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4400" y="33375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Verify coverage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36301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fingerprint checked against members table. Coverage confirmed against payer records.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" y="3776472"/>
            <a:ext cx="0" cy="36576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233672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77240" y="4142232"/>
            <a:ext cx="8092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4400" y="41788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Create case &amp; confirm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447141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record created, review chain seeded. Caller given a case reference number and quoted turnaround time based on urgency.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008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Summary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94360" y="22860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01  Intake Routing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20440" y="228600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D8"/>
                </a:solidFill>
              </a:rPr>
              <a:t>5 entry points → client_id stamped on every record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2633472"/>
            <a:ext cx="8229600" cy="0"/>
          </a:xfrm>
          <a:prstGeom prst="line">
            <a:avLst/>
          </a:prstGeom>
          <a:noFill/>
          <a:ln w="6350">
            <a:solidFill>
              <a:srgbClr val="1E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66090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02  OCR + Triage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20440" y="266090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D8"/>
                </a:solidFill>
              </a:rPr>
              <a:t>AI extracts clinical fields / CSR fills manually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3008376"/>
            <a:ext cx="8229600" cy="0"/>
          </a:xfrm>
          <a:prstGeom prst="line">
            <a:avLst/>
          </a:prstGeom>
          <a:noFill/>
          <a:ln w="6350">
            <a:solidFill>
              <a:srgbClr val="1E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03580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03  Confidence Check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303580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D8"/>
                </a:solidFill>
              </a:rPr>
              <a:t>Auto-proceed at ≥0.85 / CSR review below threshold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383280"/>
            <a:ext cx="8229600" cy="0"/>
          </a:xfrm>
          <a:prstGeom prst="line">
            <a:avLst/>
          </a:prstGeom>
          <a:noFill/>
          <a:ln w="6350">
            <a:solidFill>
              <a:srgbClr val="1E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41071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04  Member Match + Dedup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341071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D8"/>
                </a:solidFill>
              </a:rPr>
              <a:t>Identity lookup + 24h duplicate check per TPA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758184"/>
            <a:ext cx="8229600" cy="0"/>
          </a:xfrm>
          <a:prstGeom prst="line">
            <a:avLst/>
          </a:prstGeom>
          <a:noFill/>
          <a:ln w="6350">
            <a:solidFill>
              <a:srgbClr val="1E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8561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05  Case Creation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378561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D8"/>
                </a:solidFill>
              </a:rPr>
              <a:t>Record created, review chain seeded, confirmation sent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4133088"/>
            <a:ext cx="8229600" cy="0"/>
          </a:xfrm>
          <a:prstGeom prst="line">
            <a:avLst/>
          </a:prstGeom>
          <a:noFill/>
          <a:ln w="6350">
            <a:solidFill>
              <a:srgbClr val="1E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1605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06  Clinical Review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0440" y="416052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D8"/>
                </a:solidFill>
              </a:rPr>
              <a:t>LPN → RN → MD  |  Approve / Deny / Partial / Pend / P2P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4507992"/>
            <a:ext cx="8229600" cy="0"/>
          </a:xfrm>
          <a:prstGeom prst="line">
            <a:avLst/>
          </a:prstGeom>
          <a:noFill/>
          <a:ln w="6350">
            <a:solidFill>
              <a:srgbClr val="1E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53542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07  Appeal Chain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20440" y="453542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D8"/>
                </a:solidFill>
              </a:rPr>
              <a:t>1st Appeal → P2P → 2nd Appeal → IRO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Prior Authorization Intake Workflow</dc:title>
  <dc:subject>PptxGenJS Presentation</dc:subject>
  <dc:creator>PptxGenJS</dc:creator>
  <cp:lastModifiedBy>PptxGenJS</cp:lastModifiedBy>
  <cp:revision>1</cp:revision>
  <dcterms:created xsi:type="dcterms:W3CDTF">2026-05-07T16:53:11Z</dcterms:created>
  <dcterms:modified xsi:type="dcterms:W3CDTF">2026-05-07T16:53:11Z</dcterms:modified>
</cp:coreProperties>
</file>